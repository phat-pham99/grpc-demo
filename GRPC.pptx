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3" r:id="rId3"/>
    <p:sldId id="258" r:id="rId4"/>
    <p:sldId id="259" r:id="rId5"/>
    <p:sldId id="262" r:id="rId6"/>
    <p:sldId id="264" r:id="rId7"/>
    <p:sldId id="268" r:id="rId8"/>
    <p:sldId id="265" r:id="rId9"/>
    <p:sldId id="257" r:id="rId10"/>
    <p:sldId id="261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5" d="100"/>
          <a:sy n="15" d="100"/>
        </p:scale>
        <p:origin x="150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BFC9-5EE1-08BB-0A09-59E9DF5AC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EE184-010B-DDDE-B963-95F636F44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6CF74-51EA-308C-ECC4-3BB17DE0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E1EB8-F803-D4F2-488B-D0E208D7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90ED-CDD6-CCB7-C88C-7AD24832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9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FD3F-C0C1-BE27-D216-95177A9D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DD0D-A74C-4110-02D5-0F7680D18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40F19-97D0-260C-42AA-AABA494F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F9BE-A179-728E-372E-8EA390D7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7062-6A7A-22F4-F522-652243A4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9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4C26-87EF-C0E8-1C34-62498254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6B116-1EA5-0D8F-109C-8725D72D7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41809-ADC9-2ED9-300C-420A169F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7D86E-AB36-30AB-867D-06FA8DE6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CFAFC-0846-8F6B-EB27-FA645509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8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479C-C5C1-0754-A283-6D214F9A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E6775-2759-DCD9-E45B-D53DF9D20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F72C6-8BCE-8813-FE70-943FE9DE9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AC4-C9B2-3577-E7FD-4D322ABC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7B12A-9FD8-6E87-BB7E-F69F685F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45672-674D-487E-0598-CBD0A5FE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2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F771-0B4A-C930-EB8A-3C66F54D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90221-7B6D-13BE-D7EB-CFCD25F37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B799B-32BC-3D60-EEF5-6C1FF0A0C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BA8BA-D2D9-4BB7-6470-E2544741D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5643C-AF16-C552-2F86-C1A34562A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E7930-AF80-2B4E-3D86-9C3B8851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9949BA-D24D-A993-B161-1E83D5C2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38D3F-D6F6-6A55-4FDF-E59D2C0B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72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139E-552B-80F5-77EE-AD9BD8F5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9CA6A-774D-4A65-0F2E-C1DF8616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1902E-D956-A5B2-A075-C79980A3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CF7F0-7ED6-8F27-A73A-9B542836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8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FE1EA-66C1-9585-2A8A-217BA038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5E8C1-0134-E47E-5677-0E9784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7ACD6-3493-AF3F-869D-8EBECD08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5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212D-2D1B-19D1-7D9D-8C81612E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7D57-7A7E-66BF-1629-B6B544BF6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C18F3-5FD8-D8DD-96F2-1777C1E80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8651F-5B76-6FD6-A257-531D05AA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74E9C-6F94-80AF-7EDB-6C8B74BA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310E9-CB55-2322-CD39-B7B8B87D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9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A281-E91E-F6A8-902B-B3C97DB30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2A34B-8670-B31A-8B57-66ED9712C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4C00B-D126-DAC6-7E59-8B0C3BDE5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7BC8B-4C89-7A04-B28E-A976C621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C9865-88CE-7908-1428-9C8962FF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C31BF-9297-EDC4-87E7-BB135E06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0862-EDEC-213E-FAB2-7831D8E33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426F6-33C3-04D1-C113-EF8F54FF8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F414B-02C4-8661-8567-725657CB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4FB16-0C32-C18A-3560-175A2205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E9E1E-CD8F-23B1-B395-04710685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6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57D14-A331-DDAA-5704-EB0F080DA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13913-17B3-06D5-F315-A43E4D83B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F417-C8B5-BE24-E8D7-052443B3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ABD56-C9C3-8CD5-1B2A-10EBA8A8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AEB25-A4AA-7DA9-AD45-3D52C1FE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9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BF74D-EBBB-0D19-64CB-9931CECFE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44544-FF37-5D19-D41F-BB674FD45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3933F-C555-D82C-2BBE-921B188AA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C6016-3300-4915-A794-16D84AB1389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8D39-F7FC-F477-21A0-671965DCA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A56B8-1D75-AF95-28F1-824C74E64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4D610-F407-45D5-9F40-044B6CC60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6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dimk00z/grpc-file-transfer-with-go-1nb2" TargetMode="External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hyperlink" Target="https://oneuptime.com/blog/post/2026-02-17-how-to-implement-real-time-streaming-speech-recognition-with-cloud-speech-to-text/view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github.com/Phat-pham99/gRPC-demo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87C619C-EBAB-488E-96B9-153AA4C9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30DA1C1-36FD-41D8-9826-EE797BF39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5331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4C85A-6963-B0B8-28E9-0B37B89BB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4632"/>
            <a:ext cx="6081713" cy="356616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rgbClr val="FFFFFF"/>
                </a:solidFill>
              </a:rPr>
              <a:t>GRPC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D99B3-B2DD-1233-A9C8-528CE1EF7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480560"/>
            <a:ext cx="6081713" cy="1572768"/>
          </a:xfrm>
        </p:spPr>
        <p:txBody>
          <a:bodyPr>
            <a:norm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69D622-9DE1-D2DD-48C9-28AE901A8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1528" y="3953960"/>
            <a:ext cx="3425277" cy="2904040"/>
          </a:xfrm>
          <a:prstGeom prst="rect">
            <a:avLst/>
          </a:prstGeom>
        </p:spPr>
      </p:pic>
      <p:sp>
        <p:nvSpPr>
          <p:cNvPr id="28" name="sketch line">
            <a:extLst>
              <a:ext uri="{FF2B5EF4-FFF2-40B4-BE49-F238E27FC236}">
                <a16:creationId xmlns:a16="http://schemas.microsoft.com/office/drawing/2014/main" id="{35BC54F7-1315-4D6C-9420-A5BF0CDD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4252192"/>
            <a:ext cx="4056549" cy="18288"/>
          </a:xfrm>
          <a:custGeom>
            <a:avLst/>
            <a:gdLst>
              <a:gd name="csX0" fmla="*/ 0 w 4056549"/>
              <a:gd name="csY0" fmla="*/ 0 h 18288"/>
              <a:gd name="csX1" fmla="*/ 676092 w 4056549"/>
              <a:gd name="csY1" fmla="*/ 0 h 18288"/>
              <a:gd name="csX2" fmla="*/ 1271052 w 4056549"/>
              <a:gd name="csY2" fmla="*/ 0 h 18288"/>
              <a:gd name="csX3" fmla="*/ 1947144 w 4056549"/>
              <a:gd name="csY3" fmla="*/ 0 h 18288"/>
              <a:gd name="csX4" fmla="*/ 2501539 w 4056549"/>
              <a:gd name="csY4" fmla="*/ 0 h 18288"/>
              <a:gd name="csX5" fmla="*/ 3137065 w 4056549"/>
              <a:gd name="csY5" fmla="*/ 0 h 18288"/>
              <a:gd name="csX6" fmla="*/ 4056549 w 4056549"/>
              <a:gd name="csY6" fmla="*/ 0 h 18288"/>
              <a:gd name="csX7" fmla="*/ 4056549 w 4056549"/>
              <a:gd name="csY7" fmla="*/ 18288 h 18288"/>
              <a:gd name="csX8" fmla="*/ 3380458 w 4056549"/>
              <a:gd name="csY8" fmla="*/ 18288 h 18288"/>
              <a:gd name="csX9" fmla="*/ 2663801 w 4056549"/>
              <a:gd name="csY9" fmla="*/ 18288 h 18288"/>
              <a:gd name="csX10" fmla="*/ 2068840 w 4056549"/>
              <a:gd name="csY10" fmla="*/ 18288 h 18288"/>
              <a:gd name="csX11" fmla="*/ 1311618 w 4056549"/>
              <a:gd name="csY11" fmla="*/ 18288 h 18288"/>
              <a:gd name="csX12" fmla="*/ 716657 w 4056549"/>
              <a:gd name="csY12" fmla="*/ 18288 h 18288"/>
              <a:gd name="csX13" fmla="*/ 0 w 4056549"/>
              <a:gd name="csY13" fmla="*/ 18288 h 18288"/>
              <a:gd name="csX14" fmla="*/ 0 w 4056549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133108-FAE2-BAAA-C21E-378DFDF03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978" y="3397892"/>
            <a:ext cx="4675820" cy="346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9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5E97-D07F-5872-59DA-0A7C17AE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22E057-A894-99B8-DBF7-008424ABD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6832" y="1739397"/>
            <a:ext cx="4915629" cy="49273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74BDC1-9017-4116-9251-8F751EB72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5" y="365125"/>
            <a:ext cx="5950557" cy="44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0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09AD42-1F4E-8E4C-968E-FAE13E8BB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8091C8-3DAC-132D-2973-2088FB52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865"/>
            <a:ext cx="11279174" cy="5239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293C2D-E042-3249-A0CD-1193D0235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9" y="637307"/>
            <a:ext cx="3705742" cy="62206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F41430-5D14-ADC0-3983-8B3E10BB9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207" y="1056761"/>
            <a:ext cx="3781953" cy="57443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4170BB-32BC-375D-9B68-480415466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296" y="1037708"/>
            <a:ext cx="3962953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EFD753D-6A49-46DD-9E82-AA6E2C62B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8A5824-1F4A-4EE7-BC13-5BB48FC0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044" y="321732"/>
            <a:ext cx="4568741" cy="6192603"/>
          </a:xfrm>
          <a:prstGeom prst="rect">
            <a:avLst/>
          </a:prstGeom>
          <a:solidFill>
            <a:srgbClr val="3336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1333E-CA77-5829-CBE8-B83C9644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73" y="440184"/>
            <a:ext cx="3608896" cy="1690993"/>
          </a:xfrm>
        </p:spPr>
        <p:txBody>
          <a:bodyPr anchor="b">
            <a:noAutofit/>
          </a:bodyPr>
          <a:lstStyle/>
          <a:p>
            <a:r>
              <a:rPr lang="en-US" sz="2400" dirty="0" err="1">
                <a:solidFill>
                  <a:srgbClr val="FFFFFF"/>
                </a:solidFill>
                <a:latin typeface="Consolas" panose="020B0609020204030204" pitchFamily="49" charset="0"/>
              </a:rPr>
              <a:t>gRPC</a:t>
            </a:r>
            <a:r>
              <a:rPr lang="en-US" sz="2400" dirty="0">
                <a:solidFill>
                  <a:srgbClr val="FFFFFF"/>
                </a:solidFill>
                <a:latin typeface="Consolas" panose="020B0609020204030204" pitchFamily="49" charset="0"/>
              </a:rPr>
              <a:t>  -</a:t>
            </a:r>
            <a:br>
              <a:rPr lang="en-US" sz="2400" dirty="0">
                <a:solidFill>
                  <a:srgbClr val="FFFFFF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FFFFFF"/>
                </a:solidFill>
                <a:latin typeface="Consolas" panose="020B0609020204030204" pitchFamily="49" charset="0"/>
              </a:rPr>
              <a:t>(Google) Remote Procedure Call</a:t>
            </a:r>
            <a:br>
              <a:rPr lang="en-US" sz="2400" dirty="0">
                <a:solidFill>
                  <a:srgbClr val="FFFFFF"/>
                </a:solidFill>
                <a:latin typeface="Consolas" panose="020B0609020204030204" pitchFamily="49" charset="0"/>
              </a:rPr>
            </a:br>
            <a:endParaRPr lang="en-US" sz="24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FD9B0-F762-4794-38E8-DDCA8AEF2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79" r="15557" b="2"/>
          <a:stretch>
            <a:fillRect/>
          </a:stretch>
        </p:blipFill>
        <p:spPr>
          <a:xfrm>
            <a:off x="5155080" y="334730"/>
            <a:ext cx="2062593" cy="18362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6861-EC72-5752-C629-4D71A86D8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451" y="2081068"/>
            <a:ext cx="4353524" cy="3677158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Consolas" panose="020B0609020204030204" pitchFamily="49" charset="0"/>
              </a:rPr>
              <a:t>Procedure -&gt; Function – method</a:t>
            </a:r>
          </a:p>
          <a:p>
            <a:r>
              <a:rPr lang="en-US" sz="1800" dirty="0">
                <a:solidFill>
                  <a:srgbClr val="FFFFFF"/>
                </a:solidFill>
                <a:latin typeface="Consolas" panose="020B0609020204030204" pitchFamily="49" charset="0"/>
              </a:rPr>
              <a:t>=&gt; Call a method from a server from far away as if it’s on a same server, same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842C2C-41F6-C184-93DF-C92DEB9E4E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08" r="13774" b="-1"/>
          <a:stretch>
            <a:fillRect/>
          </a:stretch>
        </p:blipFill>
        <p:spPr>
          <a:xfrm>
            <a:off x="5240624" y="2374707"/>
            <a:ext cx="2062593" cy="18362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66E1F8-7847-14E6-BA56-7235FE3AA8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11" r="16211" b="2"/>
          <a:stretch>
            <a:fillRect/>
          </a:stretch>
        </p:blipFill>
        <p:spPr>
          <a:xfrm>
            <a:off x="5655413" y="4669560"/>
            <a:ext cx="2152300" cy="1916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5F72CC-8079-C987-1A93-BCB26A3779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30" r="118" b="-2"/>
          <a:stretch>
            <a:fillRect/>
          </a:stretch>
        </p:blipFill>
        <p:spPr>
          <a:xfrm>
            <a:off x="8481261" y="2632503"/>
            <a:ext cx="3037191" cy="20370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6A50BE9-A5F5-17C0-9B49-139F99FBD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997" y="1624012"/>
            <a:ext cx="5743575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7DFF0A-F282-78DE-EC63-F477306BA0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51" y="4087852"/>
            <a:ext cx="4353524" cy="232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16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8DCB-E4E9-5D51-2D2F-2AB44882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8825C4-8982-EE0E-0CC4-89C2CA5177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620793"/>
              </p:ext>
            </p:extLst>
          </p:nvPr>
        </p:nvGraphicFramePr>
        <p:xfrm>
          <a:off x="537176" y="154813"/>
          <a:ext cx="10768584" cy="546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376">
                  <a:extLst>
                    <a:ext uri="{9D8B030D-6E8A-4147-A177-3AD203B41FA5}">
                      <a16:colId xmlns:a16="http://schemas.microsoft.com/office/drawing/2014/main" val="113394760"/>
                    </a:ext>
                  </a:extLst>
                </a:gridCol>
                <a:gridCol w="3127119">
                  <a:extLst>
                    <a:ext uri="{9D8B030D-6E8A-4147-A177-3AD203B41FA5}">
                      <a16:colId xmlns:a16="http://schemas.microsoft.com/office/drawing/2014/main" val="2567085206"/>
                    </a:ext>
                  </a:extLst>
                </a:gridCol>
                <a:gridCol w="3355943">
                  <a:extLst>
                    <a:ext uri="{9D8B030D-6E8A-4147-A177-3AD203B41FA5}">
                      <a16:colId xmlns:a16="http://schemas.microsoft.com/office/drawing/2014/main" val="3981549647"/>
                    </a:ext>
                  </a:extLst>
                </a:gridCol>
                <a:gridCol w="2692146">
                  <a:extLst>
                    <a:ext uri="{9D8B030D-6E8A-4147-A177-3AD203B41FA5}">
                      <a16:colId xmlns:a16="http://schemas.microsoft.com/office/drawing/2014/main" val="2259443911"/>
                    </a:ext>
                  </a:extLst>
                </a:gridCol>
              </a:tblGrid>
              <a:tr h="317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effectLst/>
                          <a:latin typeface="Consolas" panose="020B0609020204030204" pitchFamily="49" charset="0"/>
                        </a:rPr>
                        <a:t>gRPC</a:t>
                      </a: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 Pattern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How It Works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When to Use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Real-World Example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09088821"/>
                  </a:ext>
                </a:extLst>
              </a:tr>
              <a:tr h="113094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1. Unary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Traditional request-response paradigm. Client sends a single request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protobuf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 message, server processes it, and returns a single response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protobuf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 message.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Standard point-to-point microservice queries.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Short-lived CRUD operations.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Synchronous domain actions where payload size is small and predictable.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GetUserProfile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UserId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) -&gt;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UserProfile</a:t>
                      </a:r>
                      <a:endParaRPr lang="en-US" sz="11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ExecutePayment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PaymentPayload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) -&gt;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TransactionResult</a:t>
                      </a:r>
                      <a:endParaRPr lang="en-US" sz="11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95795513"/>
                  </a:ext>
                </a:extLst>
              </a:tr>
              <a:tr h="13194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2. Client Streaming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Client writes a continuous sequence of messages to the server over an HTTP/2 stream. Once finished, client sends an end-of-stream signal (EOF) and waits for a single summary response from the server.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Uploading large files/blobs without loading entire payload into memory.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Ingesting continuous batch telemetry or metrics from edge devices.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Aggregating multiple events into a single database commit.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Chunked video or log file uploads (stream Chunk -&gt;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UploadStatus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) [1]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Pushing IoT sensor metrics for server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10514494"/>
                  </a:ext>
                </a:extLst>
              </a:tr>
              <a:tr h="113094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3. Server Streaming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Client sends a single request message; server responds with a stream of messages. Client reads from the stream until the server finishes or closes the connection.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Returning large query result sets that exceed single-message buffer limits.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Real-time server-to-client notifications or data feeds.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Tailing live application logs or audit trails.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Exporting audit logs (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DateRange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 -&gt; stream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AuditRecord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).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Real-time stock ticker or sports score updates (Subscribe(Symbol) -&gt; stream </a:t>
                      </a:r>
                      <a:r>
                        <a:rPr lang="en-US" sz="1100" dirty="0" err="1">
                          <a:effectLst/>
                          <a:latin typeface="Consolas" panose="020B0609020204030204" pitchFamily="49" charset="0"/>
                        </a:rPr>
                        <a:t>PriceTick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).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83638690"/>
                  </a:ext>
                </a:extLst>
              </a:tr>
              <a:tr h="13194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300" b="1" dirty="0">
                          <a:effectLst/>
                          <a:latin typeface="Consolas" panose="020B0609020204030204" pitchFamily="49" charset="0"/>
                        </a:rPr>
                        <a:t>4. Bidirectional Streaming</a:t>
                      </a:r>
                      <a:endParaRPr lang="en-US" sz="13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Both sides send sequence of messages using independent read/write HTTP/2 sub-streams. Communication is completely asynchronous—either side can read, write, or wait in any order.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Low-latency, full-duplex interactive channels.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Complex pipeline processing where transformed outputs stream back as inputs arrive.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Real-time collaborative applications or turn-based sync.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Multi-user chat applications or live voice/video token streaming.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Consolas" panose="020B0609020204030204" pitchFamily="49" charset="0"/>
                        </a:rPr>
                        <a:t>• Real-time AI processing (streaming audio input in, receiving transcribed text chunks out).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4049335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BC4E050-9B94-0F01-28D2-52643A7DB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07599">
            <a:off x="771704" y="502403"/>
            <a:ext cx="675483" cy="675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9C8195-E023-229F-9A00-82A9C05C83DC}"/>
              </a:ext>
            </a:extLst>
          </p:cNvPr>
          <p:cNvSpPr txBox="1"/>
          <p:nvPr/>
        </p:nvSpPr>
        <p:spPr>
          <a:xfrm>
            <a:off x="321572" y="5996226"/>
            <a:ext cx="102740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Refs: </a:t>
            </a:r>
          </a:p>
          <a:p>
            <a:r>
              <a:rPr lang="en-US" sz="1000" dirty="0"/>
              <a:t>[1] </a:t>
            </a:r>
            <a:r>
              <a:rPr lang="en-US" sz="1000" dirty="0">
                <a:hlinkClick r:id="rId3"/>
              </a:rPr>
              <a:t>https://dev.to/dimk00z/grpc-file-transfer-with-go-1nb2</a:t>
            </a:r>
            <a:endParaRPr lang="en-US" sz="1000" dirty="0"/>
          </a:p>
          <a:p>
            <a:r>
              <a:rPr lang="en-US" sz="1000" dirty="0"/>
              <a:t>[2] </a:t>
            </a:r>
            <a:r>
              <a:rPr lang="en-US" sz="1000" dirty="0">
                <a:hlinkClick r:id="rId4"/>
              </a:rPr>
              <a:t>https://oneuptime.com/blog/post/2026-02-17-how-to-implement-real-time-streaming-speech-recognition-with-cloud-speech-to-text/view</a:t>
            </a:r>
            <a:endParaRPr lang="en-US" sz="1000" dirty="0"/>
          </a:p>
          <a:p>
            <a:r>
              <a:rPr lang="en-US" sz="1000" dirty="0"/>
              <a:t>[3]</a:t>
            </a:r>
          </a:p>
          <a:p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51203-4405-40A7-1BA5-7715025E9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50680" y="3721680"/>
            <a:ext cx="181468" cy="1568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B3BCA-C5DF-88EA-5EE7-518AD39A2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7651" y="4698211"/>
            <a:ext cx="181468" cy="1568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D7C2E7-B5A6-2A64-C16F-4D55874C5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39">
            <a:off x="858055" y="1157883"/>
            <a:ext cx="675483" cy="675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B7EDDC-7299-3752-60A7-ADB4770E5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39">
            <a:off x="905922" y="2497025"/>
            <a:ext cx="675483" cy="675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528EA5-BC66-877F-E7FB-968900B76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07599">
            <a:off x="906008" y="2861094"/>
            <a:ext cx="675483" cy="675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5DCBFD-7B0C-8A62-F736-3130718E37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7651" y="3314226"/>
            <a:ext cx="181468" cy="15680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6B5F01-154F-397F-E595-A43A20C7B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67651" y="1037596"/>
            <a:ext cx="181468" cy="156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2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311D-803C-7C40-BA0E-3C3F1177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91C462-25D4-E1C3-3C37-EAF8E5DC6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870379"/>
              </p:ext>
            </p:extLst>
          </p:nvPr>
        </p:nvGraphicFramePr>
        <p:xfrm>
          <a:off x="1344169" y="608078"/>
          <a:ext cx="9503662" cy="56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496">
                  <a:extLst>
                    <a:ext uri="{9D8B030D-6E8A-4147-A177-3AD203B41FA5}">
                      <a16:colId xmlns:a16="http://schemas.microsoft.com/office/drawing/2014/main" val="2321497351"/>
                    </a:ext>
                  </a:extLst>
                </a:gridCol>
                <a:gridCol w="3809083">
                  <a:extLst>
                    <a:ext uri="{9D8B030D-6E8A-4147-A177-3AD203B41FA5}">
                      <a16:colId xmlns:a16="http://schemas.microsoft.com/office/drawing/2014/main" val="1388393585"/>
                    </a:ext>
                  </a:extLst>
                </a:gridCol>
                <a:gridCol w="3809083">
                  <a:extLst>
                    <a:ext uri="{9D8B030D-6E8A-4147-A177-3AD203B41FA5}">
                      <a16:colId xmlns:a16="http://schemas.microsoft.com/office/drawing/2014/main" val="4090661179"/>
                    </a:ext>
                  </a:extLst>
                </a:gridCol>
              </a:tblGrid>
              <a:tr h="460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Feature / Dimension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gRPC</a:t>
                      </a:r>
                      <a:endParaRPr lang="en-US" sz="12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RESTful API</a:t>
                      </a:r>
                      <a:endParaRPr lang="en-US" sz="12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0937001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Primary Protocol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HTTP/2</a:t>
                      </a: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 (Multiplexed, single long-lived TCP connection)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HTTP/1.1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or 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HTTP/2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4244561"/>
                  </a:ext>
                </a:extLst>
              </a:tr>
              <a:tr h="425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Data Payload Format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Binary (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Protocol Buffers / </a:t>
                      </a:r>
                      <a:r>
                        <a:rPr lang="en-US" sz="1200" b="1" dirty="0" err="1">
                          <a:effectLst/>
                          <a:latin typeface="Consolas" panose="020B0609020204030204" pitchFamily="49" charset="0"/>
                        </a:rPr>
                        <a:t>Protobuf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Text-based (</a:t>
                      </a: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JSON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, XML, HTML)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99782948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API Contract</a:t>
                      </a:r>
                      <a:endParaRPr lang="en-US" sz="12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Strict &amp; Enforced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(Defined via .proto schemas)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Flexible / Optional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OpenAPI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, Swagger, JSON Schema)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04531993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Performance &amp; Latency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High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(Compact binary serialization, low CPU &amp; network overhead)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Moderate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(Text parsing and larger header payloads)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74572014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Code Generation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Native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protoc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generates strongly-typed client/server stubs)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Third-party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OpenAPI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Generator, Swagger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Codegen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43257834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Browser Support</a:t>
                      </a:r>
                      <a:endParaRPr lang="en-US" sz="12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Limited</a:t>
                      </a: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 (Requires grpc-web proxy or API Gateway transcoding)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Native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(Supported directly by all web browsers)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40572234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Load Balancing</a:t>
                      </a:r>
                      <a:endParaRPr lang="en-US" sz="12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Complex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(Requires L7 HTTP/2 frame-aware balancing e.g., Envoy,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xDS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Simple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(Standard L4/L7 proxies handle per-request balancing)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73609303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  <a:latin typeface="Consolas" panose="020B0609020204030204" pitchFamily="49" charset="0"/>
                        </a:rPr>
                        <a:t>Error Handling</a:t>
                      </a:r>
                      <a:endParaRPr lang="en-US" sz="12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gRPC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Status Codes + Error Metadata Trailers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Standard HTTP Status Codes (2xx, 4xx, 5xx) + Response Body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99889767"/>
                  </a:ext>
                </a:extLst>
              </a:tr>
              <a:tr h="594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  <a:latin typeface="Consolas" panose="020B0609020204030204" pitchFamily="49" charset="0"/>
                        </a:rPr>
                        <a:t>Best Suited For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Internal microservices, low-latency control planes, real-time pipelines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Public APIs, web frontends, third-party vendor integrations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06177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8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86C2-091C-4D5F-EFD4-62A06B65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05E62-9A23-2731-7ED1-16AB38E6D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244FB-CBE5-09CF-FD3F-0F22C8A36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67" y="0"/>
            <a:ext cx="10173121" cy="6858000"/>
          </a:xfrm>
          <a:prstGeom prst="rect">
            <a:avLst/>
          </a:prstGeom>
        </p:spPr>
      </p:pic>
      <p:pic>
        <p:nvPicPr>
          <p:cNvPr id="1026" name="Picture 2" descr="REST to gRPC with Envoy. In this article, we'll move from a… | by Teoman |  Medium">
            <a:extLst>
              <a:ext uri="{FF2B5EF4-FFF2-40B4-BE49-F238E27FC236}">
                <a16:creationId xmlns:a16="http://schemas.microsoft.com/office/drawing/2014/main" id="{6DEC8ADA-05E3-583E-78C0-E0279AA7F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12" y="252922"/>
            <a:ext cx="9787192" cy="652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03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184B-A520-1C70-232F-82854602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E2FE37-46FF-2A05-B33F-CB96346BE7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847801"/>
              </p:ext>
            </p:extLst>
          </p:nvPr>
        </p:nvGraphicFramePr>
        <p:xfrm>
          <a:off x="838200" y="1825625"/>
          <a:ext cx="105156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174122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56269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85604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gRPC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 Status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HTTP Status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484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0 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200 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Request succeeded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923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3 INVALID_ARGUMENT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400 Bad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Malformed request body / validation failure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777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5 NOT_FOUND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404 Not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Requested resource 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23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7 PERMISSION_DENIED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403 Forbidden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Authentication/Authorization failed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47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4 DEADLINE_EXCEEDED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504 Gateway Timeout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Backend call timed 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73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14 UNAVAILABLE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503 Service Unavailable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Backend service unreachable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649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8 RESOURCE_EXHAUSTED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429 Too Many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Exceed backend rate limit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77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2 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545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111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894F-0925-2196-5A62-63602461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28F8C7-6D2D-6CD7-1A9A-3BACCC616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88" y="365125"/>
            <a:ext cx="10646112" cy="580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79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8CAED-5670-9DDC-9D20-471E8714F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Protobuf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039931-6334-F123-BFCA-D86A05654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364" y="644630"/>
            <a:ext cx="6590224" cy="5568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F55092-2907-1E77-5F5A-B23CE95CF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526" y="880762"/>
            <a:ext cx="7473251" cy="509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6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4F2E-8809-CA15-D496-97398324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560"/>
            <a:ext cx="10515600" cy="1325563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Hand-on project demo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FE5D0A-064E-61C1-07D8-D1E6D0D1E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6425850"/>
            <a:ext cx="8784336" cy="864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Repo source: </a:t>
            </a:r>
            <a:r>
              <a:rPr lang="en-US" sz="1200" dirty="0">
                <a:latin typeface="Consolas" panose="020B0609020204030204" pitchFamily="49" charset="0"/>
                <a:hlinkClick r:id="rId2"/>
              </a:rPr>
              <a:t>https://github.com/Phat-pham99/gRPC-demo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84F30C-07F1-3AD8-8B36-30F5AB605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807" y="1416542"/>
            <a:ext cx="7611570" cy="482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22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40FDF-F4D4-63D2-FD70-ABC3D8BD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62DD7-944E-249C-EC10-731ECBC77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Consolas" panose="020B0609020204030204" pitchFamily="49" charset="0"/>
              </a:rPr>
              <a:t>1) What difficulties prevent teams from implement </a:t>
            </a:r>
            <a:r>
              <a:rPr lang="en-US" sz="2200" dirty="0" err="1">
                <a:latin typeface="Consolas" panose="020B0609020204030204" pitchFamily="49" charset="0"/>
              </a:rPr>
              <a:t>gRPC</a:t>
            </a:r>
            <a:r>
              <a:rPr lang="en-US" sz="2200" dirty="0">
                <a:latin typeface="Consolas" panose="020B0609020204030204" pitchFamily="49" charset="0"/>
              </a:rPr>
              <a:t> ? 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2) Can migrate some Restful into </a:t>
            </a:r>
            <a:r>
              <a:rPr lang="en-US" sz="2200" dirty="0" err="1">
                <a:latin typeface="Consolas" panose="020B0609020204030204" pitchFamily="49" charset="0"/>
              </a:rPr>
              <a:t>gRPC</a:t>
            </a:r>
            <a:r>
              <a:rPr lang="en-US" sz="2200" dirty="0">
                <a:latin typeface="Consolas" panose="020B0609020204030204" pitchFamily="49" charset="0"/>
              </a:rPr>
              <a:t> later on ?</a:t>
            </a:r>
          </a:p>
          <a:p>
            <a:r>
              <a:rPr lang="en-US" sz="2200" dirty="0">
                <a:latin typeface="Consolas" panose="020B0609020204030204" pitchFamily="49" charset="0"/>
              </a:rPr>
              <a:t>3) Do some quiz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61E144-8022-FE21-5A36-D6AC82A46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8895"/>
              </p:ext>
            </p:extLst>
          </p:nvPr>
        </p:nvGraphicFramePr>
        <p:xfrm>
          <a:off x="528658" y="3108960"/>
          <a:ext cx="6627030" cy="3639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3515">
                  <a:extLst>
                    <a:ext uri="{9D8B030D-6E8A-4147-A177-3AD203B41FA5}">
                      <a16:colId xmlns:a16="http://schemas.microsoft.com/office/drawing/2014/main" val="781956109"/>
                    </a:ext>
                  </a:extLst>
                </a:gridCol>
                <a:gridCol w="3313515">
                  <a:extLst>
                    <a:ext uri="{9D8B030D-6E8A-4147-A177-3AD203B41FA5}">
                      <a16:colId xmlns:a16="http://schemas.microsoft.com/office/drawing/2014/main" val="1154735129"/>
                    </a:ext>
                  </a:extLst>
                </a:gridCol>
              </a:tblGrid>
              <a:tr h="537577">
                <a:tc>
                  <a:txBody>
                    <a:bodyPr/>
                    <a:lstStyle/>
                    <a:p>
                      <a:r>
                        <a:rPr lang="en-US" dirty="0" err="1"/>
                        <a:t>Usecase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221666"/>
                  </a:ext>
                </a:extLst>
              </a:tr>
              <a:tr h="643703">
                <a:tc>
                  <a:txBody>
                    <a:bodyPr/>
                    <a:lstStyle/>
                    <a:p>
                      <a:r>
                        <a:rPr lang="en-US" dirty="0"/>
                        <a:t>Realtime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gRPC</a:t>
                      </a:r>
                      <a:r>
                        <a:rPr lang="en-US" dirty="0"/>
                        <a:t> – Server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564705"/>
                  </a:ext>
                </a:extLst>
              </a:tr>
              <a:tr h="537577">
                <a:tc>
                  <a:txBody>
                    <a:bodyPr/>
                    <a:lstStyle/>
                    <a:p>
                      <a:r>
                        <a:rPr lang="en-US" dirty="0"/>
                        <a:t>Stock dashboard (frontend)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Websocket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161841"/>
                  </a:ext>
                </a:extLst>
              </a:tr>
              <a:tr h="605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Stock dashboard (backend)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gRPC</a:t>
                      </a:r>
                      <a:r>
                        <a:rPr lang="en-US" dirty="0"/>
                        <a:t> – Server Stream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026933"/>
                  </a:ext>
                </a:extLst>
              </a:tr>
              <a:tr h="605265">
                <a:tc>
                  <a:txBody>
                    <a:bodyPr/>
                    <a:lstStyle/>
                    <a:p>
                      <a:r>
                        <a:rPr lang="en-US" dirty="0"/>
                        <a:t>Token validation via Auth-microservice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gRPC</a:t>
                      </a:r>
                      <a:r>
                        <a:rPr lang="en-US" dirty="0"/>
                        <a:t> - Unary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79596"/>
                  </a:ext>
                </a:extLst>
              </a:tr>
              <a:tr h="605265">
                <a:tc>
                  <a:txBody>
                    <a:bodyPr/>
                    <a:lstStyle/>
                    <a:p>
                      <a:r>
                        <a:rPr lang="en-US" dirty="0"/>
                        <a:t>Send order request from 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RestFull</a:t>
                      </a:r>
                      <a:r>
                        <a:rPr lang="en-US" dirty="0"/>
                        <a:t>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173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538223-32A1-73D9-D5BC-E6570C544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03452"/>
              </p:ext>
            </p:extLst>
          </p:nvPr>
        </p:nvGraphicFramePr>
        <p:xfrm>
          <a:off x="7593246" y="2868040"/>
          <a:ext cx="4198112" cy="23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112">
                  <a:extLst>
                    <a:ext uri="{9D8B030D-6E8A-4147-A177-3AD203B41FA5}">
                      <a16:colId xmlns:a16="http://schemas.microsoft.com/office/drawing/2014/main" val="691445949"/>
                    </a:ext>
                  </a:extLst>
                </a:gridCol>
              </a:tblGrid>
              <a:tr h="3956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318846"/>
                  </a:ext>
                </a:extLst>
              </a:tr>
              <a:tr h="395656">
                <a:tc>
                  <a:txBody>
                    <a:bodyPr/>
                    <a:lstStyle/>
                    <a:p>
                      <a:r>
                        <a:rPr lang="en-US" dirty="0" err="1"/>
                        <a:t>gRPC</a:t>
                      </a:r>
                      <a:r>
                        <a:rPr lang="en-US" dirty="0"/>
                        <a:t> - Unary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349217"/>
                  </a:ext>
                </a:extLst>
              </a:tr>
              <a:tr h="395656">
                <a:tc>
                  <a:txBody>
                    <a:bodyPr/>
                    <a:lstStyle/>
                    <a:p>
                      <a:r>
                        <a:rPr lang="en-US" dirty="0" err="1"/>
                        <a:t>gRPC</a:t>
                      </a:r>
                      <a:r>
                        <a:rPr lang="en-US" dirty="0"/>
                        <a:t> – Client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836034"/>
                  </a:ext>
                </a:extLst>
              </a:tr>
              <a:tr h="395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gRPC</a:t>
                      </a:r>
                      <a:r>
                        <a:rPr lang="en-US" dirty="0"/>
                        <a:t> – Server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934272"/>
                  </a:ext>
                </a:extLst>
              </a:tr>
              <a:tr h="3956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RestFull</a:t>
                      </a:r>
                      <a:r>
                        <a:rPr lang="en-US" dirty="0"/>
                        <a:t>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739461"/>
                  </a:ext>
                </a:extLst>
              </a:tr>
              <a:tr h="395656">
                <a:tc>
                  <a:txBody>
                    <a:bodyPr/>
                    <a:lstStyle/>
                    <a:p>
                      <a:r>
                        <a:rPr lang="en-US" dirty="0" err="1"/>
                        <a:t>Websocket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46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2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811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Consolas</vt:lpstr>
      <vt:lpstr>Office Theme</vt:lpstr>
      <vt:lpstr>GRPC </vt:lpstr>
      <vt:lpstr>PowerPoint Presentation</vt:lpstr>
      <vt:lpstr>PowerPoint Presentation</vt:lpstr>
      <vt:lpstr>gRPC  - (Google) Remote Procedure Call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Protobuf</vt:lpstr>
      <vt:lpstr>Hand-on project demo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Pham, Phat1 (GE Vernova, consultant)</dc:creator>
  <cp:lastModifiedBy>Pham, Phat1 (GE Vernova, consultant)</cp:lastModifiedBy>
  <cp:revision>21</cp:revision>
  <dcterms:created xsi:type="dcterms:W3CDTF">2026-07-20T02:57:54Z</dcterms:created>
  <dcterms:modified xsi:type="dcterms:W3CDTF">2026-07-24T09:55:46Z</dcterms:modified>
</cp:coreProperties>
</file>